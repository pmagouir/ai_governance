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CB017"/>
                </a:solidFill>
              </a:defRPr>
            </a:pPr>
            <a:r>
              <a:t>AI FLUENCY PRE-LAUNCH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Baseline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7B7D5"/>
                </a:solidFill>
              </a:defRPr>
            </a:pPr>
            <a:r>
              <a:t>DC CAP Enterprise AI Leadership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April 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Average AI Fluency: 63% | Range: 30–85%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Strongest Construct: Learning Orientation (78.9%) | Weakest: Current AI Use (53.1%)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Fluency Distribution: 4 Leading | 6 Applying | 4 Building | 1 Exploring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Knowing-Doing Gap exists for 10 of 15 participants (avg 14.3%)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SAMPLE OVERVIEW</a:t>
            </a:r>
          </a:p>
        </p:txBody>
      </p:sp>
      <p:pic>
        <p:nvPicPr>
          <p:cNvPr id="3" name="Picture 2" descr="fluenc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6527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CONSTRUCT SCORES OVERVIEW</a:t>
            </a:r>
          </a:p>
        </p:txBody>
      </p:sp>
      <p:pic>
        <p:nvPicPr>
          <p:cNvPr id="3" name="Picture 2" descr="construc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125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UNIT COMPARISON</a:t>
            </a:r>
          </a:p>
        </p:txBody>
      </p:sp>
      <p:pic>
        <p:nvPicPr>
          <p:cNvPr id="3" name="Picture 2" descr="uni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353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THE KNOWING-DOING GAP</a:t>
            </a:r>
          </a:p>
        </p:txBody>
      </p:sp>
      <p:pic>
        <p:nvPicPr>
          <p:cNvPr id="3" name="Picture 2" descr="knowing_doin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4587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PARTICIPANT CLUSTERS</a:t>
            </a:r>
          </a:p>
        </p:txBody>
      </p:sp>
      <p:pic>
        <p:nvPicPr>
          <p:cNvPr id="3" name="Picture 2" descr="participant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680960" cy="59181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MILESTONE PROGRESS</a:t>
            </a:r>
          </a:p>
        </p:txBody>
      </p:sp>
      <p:pic>
        <p:nvPicPr>
          <p:cNvPr id="3" name="Picture 2" descr="milestone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602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KEY INSIGHTS BY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352FF"/>
                </a:solidFill>
              </a:defRPr>
            </a:pPr>
            <a:r>
              <a:t>DATA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N=5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Avg Fluency: 78%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Top Construct: AI Orientation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Gap Risk: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7B7D5"/>
                </a:solidFill>
              </a:defRPr>
            </a:pPr>
            <a:r>
              <a:t>INNOVATION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N=4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Avg Fluency: 68%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Top Construct: Learning Orientation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Gap Risk: 4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CB017"/>
                </a:solidFill>
              </a:defRPr>
            </a:pPr>
            <a:r>
              <a:t>STUDENT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N=6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Avg Fluency: 48%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Top Construct: Learning Orientation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Gap Risk: 2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RECOMMENDED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FCB017"/>
                </a:solidFill>
              </a:defRPr>
            </a:pPr>
            <a:r>
              <a:t>Skill-Building Accelerator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6 participants show knowing-doing gap &gt; 10%. Provide hands-on practice labs for governance use cases.</a:t>
            </a:r>
          </a:p>
          <a:p>
            <a:pPr>
              <a:spcBef>
                <a:spcPts val="1000"/>
              </a:spcBef>
              <a:defRPr sz="1300" b="1">
                <a:solidFill>
                  <a:srgbClr val="FCB017"/>
                </a:solidFill>
              </a:defRPr>
            </a:pPr>
            <a:r>
              <a:t>Knowledge Integration Sessions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Current AI Use lags other constructs. Host weekly 30-min integration sessions pairing theory with practice.</a:t>
            </a:r>
          </a:p>
          <a:p>
            <a:pPr>
              <a:spcBef>
                <a:spcPts val="1000"/>
              </a:spcBef>
              <a:defRPr sz="1300" b="1">
                <a:solidFill>
                  <a:srgbClr val="FCB017"/>
                </a:solidFill>
              </a:defRPr>
            </a:pPr>
            <a:r>
              <a:t>Peer Mentoring: High-to-Emerging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4 Leading participants mentor 5 Exploring/Building staff. Establishes peer learning culture.</a:t>
            </a:r>
          </a:p>
          <a:p>
            <a:pPr>
              <a:spcBef>
                <a:spcPts val="1000"/>
              </a:spcBef>
              <a:defRPr sz="1300" b="1">
                <a:solidFill>
                  <a:srgbClr val="FCB017"/>
                </a:solidFill>
              </a:defRPr>
            </a:pPr>
            <a:r>
              <a:t>Unit-Specific Coaching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Student Success needs AI application focus. Innovation Hub ready for advanced governance topics.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CB017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87B7D5"/>
                </a:solidFill>
              </a:defRPr>
            </a:pPr>
            <a:r>
              <a:t>April 8 – Phase 1 Launch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All participants begin Governance Foundations activities.</a:t>
            </a:r>
          </a:p>
          <a:p>
            <a:pPr>
              <a:spcBef>
                <a:spcPts val="1000"/>
              </a:spcBef>
              <a:defRPr sz="1300" b="1">
                <a:solidFill>
                  <a:srgbClr val="87B7D5"/>
                </a:solidFill>
              </a:defRPr>
            </a:pPr>
            <a:r>
              <a:t>Bi-weekly Pulse Checks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Brief 5-question surveys to track knowledge application &amp; barriers.</a:t>
            </a:r>
          </a:p>
          <a:p>
            <a:pPr>
              <a:spcBef>
                <a:spcPts val="1000"/>
              </a:spcBef>
              <a:defRPr sz="1300" b="1">
                <a:solidFill>
                  <a:srgbClr val="87B7D5"/>
                </a:solidFill>
              </a:defRPr>
            </a:pPr>
            <a:r>
              <a:t>Mid-Phase Coaching Sprints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Week 3–4: Unit leads identify and address gaps with peer mentors.</a:t>
            </a:r>
          </a:p>
          <a:p>
            <a:pPr>
              <a:spcBef>
                <a:spcPts val="1000"/>
              </a:spcBef>
              <a:defRPr sz="1300" b="1">
                <a:solidFill>
                  <a:srgbClr val="87B7D5"/>
                </a:solidFill>
              </a:defRPr>
            </a:pPr>
            <a:r>
              <a:t>Post-Phase 1 Assessment (May 15)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Full fluency re-assessment; compare baseline to 6-week growth.</a:t>
            </a:r>
          </a:p>
          <a:p>
            <a:pPr>
              <a:spcBef>
                <a:spcPts val="1000"/>
              </a:spcBef>
              <a:defRPr sz="1300" b="1">
                <a:solidFill>
                  <a:srgbClr val="87B7D5"/>
                </a:solidFill>
              </a:defRPr>
            </a:pPr>
            <a:r>
              <a:t>Success Metrics to Watch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Completion rates &gt;90%, knowing-doing gap closure &gt;15%, Unit Success &gt;75% fluency.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217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